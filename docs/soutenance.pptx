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v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360" y="457200"/>
            <a:ext cx="2611375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Prédiction d'exploitabilité des CVE</a:t>
            </a:r>
          </a:p>
          <a:p>
            <a:pPr algn="ctr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par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E8A33D"/>
                </a:solidFill>
                <a:latin typeface="Calibri"/>
              </a:rPr>
              <a:t>Soutenance de fin d'étude — DU Data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434840"/>
            <a:ext cx="1828800" cy="25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MATANE SOUNGOUENE Saïd Mansour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D3E0"/>
                </a:solidFill>
                <a:latin typeface="Calibri"/>
              </a:rPr>
              <a:t>Université Paris 1 Panthéon-Sorbonne — Année universitaire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1. Contexte et problématique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2. Sources de données et collecte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3. Feature engineering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4. Modélisation et résultats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5. Interprétabilité (SHAP)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6. Démonstrateur : dashboard et API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7. Déploiement en production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8. Limites, perspectives et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Contexte : les limites du score CVSS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Des milliers de CVE publiées chaque année.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Le CVSS mesure la sévérité théorique d'une vulnérabilité — pas sa probabilité réelle d'être exploitée.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Conséquence : des équipes de sécurité qui priorisent des CVE au CVSS élevé jamais exploitées, et qui ratent des CVE moins sévères mais activement exploitées.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12080" cy="32004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400">
                <a:solidFill>
                  <a:srgbClr val="1F3A5F"/>
                </a:solidFill>
              </a:rPr>
              <a:t>Question centrale</a:t>
            </a:r>
          </a:p>
          <a:p>
            <a:r>
              <a:rPr sz="1300">
                <a:solidFill>
                  <a:srgbClr val="333333"/>
                </a:solidFill>
              </a:rPr>
              <a:t>Peut-on prédire, à partir des données disponibles à la publication d'une CVE, si elle sera réellement exploitée — mieux que l'EPSS, la référence actuelle du domaine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 Construire un pipeline reproductible de collecte (NVD, EPSS, CISA KEV).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 Concevoir des features exploitables par un modèle de ML.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 Entraîner et comparer plusieurs modèles sur une cible très déséquilibrée.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 Évaluer objectivement les résultats face à la baseline EPSS, avec un split temporel réaliste.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•  Rendre les prédictions interprétables (SHAP) et accessibles via une API et un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Architecture du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828800" cy="64008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NVD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828800" cy="64008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EPSS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828800" cy="64008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CISA KEV</a:t>
            </a:r>
          </a:p>
        </p:txBody>
      </p:sp>
      <p:sp>
        <p:nvSpPr>
          <p:cNvPr id="10" name="Chevron 9"/>
          <p:cNvSpPr/>
          <p:nvPr/>
        </p:nvSpPr>
        <p:spPr>
          <a:xfrm>
            <a:off x="2926080" y="2743200"/>
            <a:ext cx="1691640" cy="100584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Collecte &amp;
stockage
(SQLite)</a:t>
            </a:r>
          </a:p>
        </p:txBody>
      </p:sp>
      <p:sp>
        <p:nvSpPr>
          <p:cNvPr id="11" name="Chevron 10"/>
          <p:cNvSpPr/>
          <p:nvPr/>
        </p:nvSpPr>
        <p:spPr>
          <a:xfrm>
            <a:off x="4709160" y="2743200"/>
            <a:ext cx="1691640" cy="100584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2743200"/>
            <a:ext cx="1691640" cy="100584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Modèles ML
(XGBoost...)</a:t>
            </a:r>
          </a:p>
        </p:txBody>
      </p:sp>
      <p:sp>
        <p:nvSpPr>
          <p:cNvPr id="13" name="Chevron 12"/>
          <p:cNvSpPr/>
          <p:nvPr/>
        </p:nvSpPr>
        <p:spPr>
          <a:xfrm>
            <a:off x="8275320" y="2743200"/>
            <a:ext cx="1691640" cy="100584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SHAP</a:t>
            </a:r>
          </a:p>
        </p:txBody>
      </p:sp>
      <p:sp>
        <p:nvSpPr>
          <p:cNvPr id="14" name="Chevron 13"/>
          <p:cNvSpPr/>
          <p:nvPr/>
        </p:nvSpPr>
        <p:spPr>
          <a:xfrm>
            <a:off x="10058400" y="2743200"/>
            <a:ext cx="1691640" cy="100584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</a:rPr>
              <a:t>API +
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95959"/>
                </a:solidFill>
                <a:latin typeface="Calibri"/>
              </a:rPr>
              <a:t>Chaque étape correspond à un module Python indépendant et testé (40 tests automatisés), dans un dépôt Git structuré par branches fonctionnelles.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Sources de données et volumes collectés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NVD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CVSS, CWE, description, références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EPSS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Probabilité d'exploitation (feature + baseline)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CISA KEV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Label cible is_exploited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data_volu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71650"/>
            <a:ext cx="5212080" cy="30403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918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3A5F"/>
                </a:solidFill>
                <a:latin typeface="Calibri"/>
              </a:rPr>
              <a:t>378 393 CVE (NVD)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3A5F"/>
                </a:solidFill>
                <a:latin typeface="Calibri"/>
              </a:rPr>
              <a:t>360 399 scores (EPSS)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3A5F"/>
                </a:solidFill>
                <a:latin typeface="Calibri"/>
              </a:rPr>
              <a:t>1 665 entrées (CISA KEV)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3A5F"/>
                </a:solidFill>
                <a:latin typeface="Calibri"/>
              </a:rPr>
              <a:t>→ 100% des CVE du KEV retrouvées dans NVD.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Feature engineering — 17 features construites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 CVSS —</a:t>
            </a:r>
            <a:r>
              <a:rPr sz="1800">
                <a:solidFill>
                  <a:srgbClr val="333333"/>
                </a:solidFill>
                <a:latin typeface="Calibri"/>
              </a:rPr>
              <a:t> sous-scores encodés (vecteur d'attaque, complexité, privilèges...)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 CWE —</a:t>
            </a:r>
            <a:r>
              <a:rPr sz="1800">
                <a:solidFill>
                  <a:srgbClr val="333333"/>
                </a:solidFill>
                <a:latin typeface="Calibri"/>
              </a:rPr>
              <a:t> catégorisation en ~12 familles (injection, mémoire, accès...)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 Texte —</a:t>
            </a:r>
            <a:r>
              <a:rPr sz="1800">
                <a:solidFill>
                  <a:srgbClr val="333333"/>
                </a:solidFill>
                <a:latin typeface="Calibri"/>
              </a:rPr>
              <a:t> mots-clés d'exploitation, catégorie de vendor (OS, web, réseau...)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 Temporel —</a:t>
            </a:r>
            <a:r>
              <a:rPr sz="1800">
                <a:solidFill>
                  <a:srgbClr val="333333"/>
                </a:solidFill>
                <a:latin typeface="Calibri"/>
              </a:rPr>
              <a:t> ancienneté de la CVE (days_since_publication)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•  EPSS —</a:t>
            </a:r>
            <a:r>
              <a:rPr sz="1800">
                <a:solidFill>
                  <a:srgbClr val="333333"/>
                </a:solidFill>
                <a:latin typeface="Calibri"/>
              </a:rPr>
              <a:t> score et percentile les plus récents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212080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400">
                <a:solidFill>
                  <a:srgbClr val="B02E2E"/>
                </a:solidFill>
              </a:rPr>
              <a:t>Difficulté rencontrée</a:t>
            </a:r>
          </a:p>
          <a:p>
            <a:r>
              <a:rPr sz="1300">
                <a:solidFill>
                  <a:srgbClr val="333333"/>
                </a:solidFill>
              </a:rPr>
              <a:t>Des règles de mots-clés qui se chevauchaient (« Cisco router firmware » classé à tort en IoT plutôt que réseau) — détecté par un test unitaire et corrigé en réordonnant les règles de priorité.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problématique, visible dans les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cvss_ep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1371600"/>
            <a:ext cx="98298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F3A5F"/>
                </a:solidFill>
                <a:latin typeface="Calibri"/>
              </a:rPr>
              <a:t>Le CVSS se chevauche fortement entre CVE exploitées et non exploitées ; l'EPSS les sépare nettement.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Modélisation — méthodologie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•  Cible —</a:t>
            </a:r>
            <a:r>
              <a:rPr sz="1900">
                <a:solidFill>
                  <a:srgbClr val="333333"/>
                </a:solidFill>
                <a:latin typeface="Calibri"/>
              </a:rPr>
              <a:t> is_exploited, déséquilibrée à l'extrême (0,44 % de CVE exploitées sur 378k)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•  Split —</a:t>
            </a:r>
            <a:r>
              <a:rPr sz="1900">
                <a:solidFill>
                  <a:srgbClr val="333333"/>
                </a:solidFill>
                <a:latin typeface="Calibri"/>
              </a:rPr>
              <a:t> temporel 80/20 (entraînement sur les CVE anciennes, test sur les récentes) — pas de split aléatoire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•  4 modèles —</a:t>
            </a:r>
            <a:r>
              <a:rPr sz="1900">
                <a:solidFill>
                  <a:srgbClr val="333333"/>
                </a:solidFill>
                <a:latin typeface="Calibri"/>
              </a:rPr>
              <a:t> XGBoost (principal), LightGBM, Random Forest, régression logistique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•  Déséquilibre —</a:t>
            </a:r>
            <a:r>
              <a:rPr sz="1900">
                <a:solidFill>
                  <a:srgbClr val="333333"/>
                </a:solidFill>
                <a:latin typeface="Calibri"/>
              </a:rPr>
              <a:t> class_weight='balanced' (RF, LogReg), scale_pos_weight (XGBoost)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3333"/>
                </a:solidFill>
                <a:latin typeface="Calibri"/>
              </a:rPr>
              <a:t>•  Suivi —</a:t>
            </a:r>
            <a:r>
              <a:rPr sz="1900">
                <a:solidFill>
                  <a:srgbClr val="333333"/>
                </a:solidFill>
                <a:latin typeface="Calibri"/>
              </a:rPr>
              <a:t> MLflow (paramètres, métriques, artefacts par run)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Résultats — comparaison des modèles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Rég. logistique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0,992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Baseline EPSS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0,977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0,543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0,420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84832"/>
            <a:ext cx="5120640" cy="2048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3931920"/>
            <a:ext cx="5852160" cy="1645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400">
                <a:solidFill>
                  <a:srgbClr val="2E7D32"/>
                </a:solidFill>
              </a:rPr>
              <a:t>✓ Objectifs atteints</a:t>
            </a:r>
          </a:p>
          <a:p>
            <a:r>
              <a:rPr sz="1300">
                <a:solidFill>
                  <a:srgbClr val="333333"/>
                </a:solidFill>
              </a:rPr>
              <a:t>AUC-ROC &gt; 0,80 pour tous les modèles. XGBoost dépasse la baseline EPSS sur toutes les métriques (meilleur PR-AUC et F1).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Zoom : un incident méthodologique instructif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A5F"/>
                </a:solidFill>
                <a:latin typeface="Calibri"/>
              </a:rPr>
              <a:t>LightGBM avec is_unbalance=True (réglage recommandé pour cibles déséquilibrées)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AUC de test : 0,946 → 0,687 (chute de -0,26 point)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AUC d'entraînement également basse (0,77) : sous-apprentissage, pas juste un problème de calibration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Diagnostic confirmé en comparant, sur la même matrice de features, LightGBM avec/sans repondération et XGBoost — le problème est spécifique au mécanisme de LightGBM sur ce ratio extrême (~205:1)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400">
                <a:solidFill>
                  <a:srgbClr val="2E7D32"/>
                </a:solidFill>
              </a:rPr>
              <a:t>✓ Décision</a:t>
            </a:r>
          </a:p>
          <a:p>
            <a:r>
              <a:rPr sz="1300">
                <a:solidFill>
                  <a:srgbClr val="333333"/>
                </a:solidFill>
              </a:rPr>
              <a:t>LightGBM conservé sans repondération dans le pipeline final — une bonne pratique générale ne se vérifie pas toujours empiriquement sur des données réelles.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Au-delà de l'AUC : courbes ROC et Précision-Rappel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280160"/>
            <a:ext cx="102819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La courbe PR révèle l'écart XGBoost vs régression logistique que l'AUC seul masquait.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Interprétabilité — importance globale (SHAP)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03070"/>
            <a:ext cx="6400800" cy="400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8288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 epss_percentile et epss_score dominent largement l'importance globale.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 Suivis de reference_count, cvss_base_score, days_since_publication.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 Limite à garder en tête : le modèle s'appuie fortement sur l'EPSS lui-même (discuté dans le mémoire).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Interprétabilité — un exemple concret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shap_per_c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4465"/>
            <a:ext cx="6766560" cy="3806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•  CVE-2026-31431 —</a:t>
            </a:r>
            <a:r>
              <a:rPr sz="1500">
                <a:solidFill>
                  <a:srgbClr val="333333"/>
                </a:solidFill>
                <a:latin typeface="Calibri"/>
              </a:rPr>
              <a:t> CVSS modéré (7,8), EPSS très élevé (0,999), réellement exploitée. Probabilité prédite ≈ 100 %.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•  CVE-2026-39830 —</a:t>
            </a:r>
            <a:r>
              <a:rPr sz="1500">
                <a:solidFill>
                  <a:srgbClr val="333333"/>
                </a:solidFill>
                <a:latin typeface="Calibri"/>
              </a:rPr>
              <a:t> CVSS critique (9,1), EPSS quasi nul (0,006), jamais exploitée. Probabilité prédite ≈ 0 %.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4805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1F3A5F"/>
                </a:solidFill>
                <a:latin typeface="Calibri"/>
              </a:rPr>
              <a:t>Un tri par CVSS seul aurait mal priorisé les deux 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Démonstrateur : dashboard et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ml_vs_eps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280160"/>
            <a:ext cx="4953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•  API FastAPI —</a:t>
            </a:r>
            <a:r>
              <a:rPr sz="1700">
                <a:solidFill>
                  <a:srgbClr val="333333"/>
                </a:solidFill>
                <a:latin typeface="Calibri"/>
              </a:rPr>
              <a:t> liste filtrée/triée par risque, détail par CVE (prédiction + SHAP), /health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•  Dashboard Streamlit —</a:t>
            </a:r>
            <a:r>
              <a:rPr sz="1700">
                <a:solidFill>
                  <a:srgbClr val="333333"/>
                </a:solidFill>
                <a:latin typeface="Calibri"/>
              </a:rPr>
              <a:t> recherche par CVE-ID, tableau filtrable, comparaison ML vs EPSS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A5F"/>
                </a:solidFill>
                <a:latin typeface="Consolas"/>
              </a:rPr>
              <a:t>https://matane-mansour.com/cve-predictor/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A5F"/>
                </a:solidFill>
                <a:latin typeface="Consolas"/>
              </a:rPr>
              <a:t>https://matane-mansour.com/cve-predictor/api/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Déploiement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VPS existant (OVH) hébergeant déjà un portfolio — aucun sous-domaine disponible.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Routage par chemin nginx (/cve-predictor/, /cve-predictor/api/) : même certificat, aucune nouvelle entrée DNS.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Deux conteneurs Docker isolés (API, dashboard), exposés uniquement en local.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Données allégées pour le transfert : features.csv (173 Mo) + modèle (1 Mo), plutôt que la base complète (2,4 Go).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•  Configuration nginx sauvegardée et validée avant rechargement — portfolio existant non affecté.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Limites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02E2E"/>
                </a:solidFill>
                <a:latin typeface="Calibri"/>
              </a:rP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Risque de circularité : l'EPSS est feature ET baseline.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Le label CISA KEV n'est pas exhaustif (biais possible).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Un seul split temporel, sans validation croisée répétée.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E7D32"/>
                </a:solidFill>
                <a:latin typeface="Calibri"/>
              </a:rPr>
              <a:t>Perspectives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Automatiser la collecte incrémentale et le réentraînement.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Évaluer le modèle sans la feature EPSS.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 Calibrer le seuil selon un cas d'usage opérationnel réel.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CVE Exploitability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Pipeline complet et reproductible : collecte → features → modèles → SHAP → API/dashboard → production.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XGBoost dépasse la baseline EPSS sur toutes les métriques (AUC-ROC 0,992, PR-AUC 0,566).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Interprétabilité concrète (SHAP), condition nécessaire à l'adoption par des équipes sécurité.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•  Ingénierie professionnelle : Git structuré, 40 tests automatisés, MLOps (MLflow), déploiement conteneurisé.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8A33D"/>
                </a:solidFill>
                <a:latin typeface="Calibri"/>
              </a:rP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D3E0"/>
                </a:solidFill>
                <a:latin typeface="Consolas"/>
              </a:rPr>
              <a:t>github.com/git-saidmansour/Projet-de-fin-d-eutde-DU-Data-Analytics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D3E0"/>
                </a:solidFill>
                <a:latin typeface="Consolas"/>
              </a:rPr>
              <a:t>matane-mansour.com/cve-predictor/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